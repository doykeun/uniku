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  <p:sldId id="257" r:id="rId3"/>
    <p:sldId id="258" r:id="rId4"/>
    <p:sldId id="274" r:id="rId5"/>
    <p:sldId id="275" r:id="rId6"/>
    <p:sldId id="276" r:id="rId7"/>
    <p:sldId id="277" r:id="rId8"/>
    <p:sldId id="278" r:id="rId9"/>
    <p:sldId id="279" r:id="rId10"/>
    <p:sldId id="259" r:id="rId11"/>
    <p:sldId id="260" r:id="rId12"/>
    <p:sldId id="266" r:id="rId13"/>
    <p:sldId id="261" r:id="rId14"/>
    <p:sldId id="267" r:id="rId15"/>
    <p:sldId id="264" r:id="rId16"/>
    <p:sldId id="271" r:id="rId17"/>
    <p:sldId id="268" r:id="rId18"/>
    <p:sldId id="269" r:id="rId19"/>
    <p:sldId id="270" r:id="rId20"/>
    <p:sldId id="262" r:id="rId21"/>
    <p:sldId id="263" r:id="rId22"/>
    <p:sldId id="265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150" y="2133601"/>
            <a:ext cx="52578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nastasia" panose="02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nastasia" panose="020006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nastasia" panose="02000600000000000000" pitchFamily="2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0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6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20" y="990601"/>
            <a:ext cx="7886700" cy="99060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372" y="2438400"/>
            <a:ext cx="7886700" cy="24384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8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4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5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6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6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82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3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1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438" y="1027113"/>
            <a:ext cx="82867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6388" y="2286000"/>
            <a:ext cx="4076700" cy="3546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5488" y="2286000"/>
            <a:ext cx="4076700" cy="3546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38600" y="2238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3400" y="6486525"/>
            <a:ext cx="4648200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706688" y="223838"/>
            <a:ext cx="1331912" cy="365125"/>
          </a:xfrm>
        </p:spPr>
        <p:txBody>
          <a:bodyPr/>
          <a:lstStyle>
            <a:lvl1pPr>
              <a:defRPr smtClean="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03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25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1"/>
            <a:ext cx="3977640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1"/>
            <a:ext cx="3977640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4A687"/>
                </a:solidFill>
                <a:latin typeface="Arial"/>
                <a:cs typeface="Arial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4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990600"/>
            <a:ext cx="7886700" cy="70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165" y="1828801"/>
            <a:ext cx="7886700" cy="4138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2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Alur </a:t>
            </a:r>
            <a:r>
              <a:rPr dirty="0" err="1"/>
              <a:t>Kerja</a:t>
            </a:r>
            <a:r>
              <a:rPr dirty="0"/>
              <a:t> CPU </a:t>
            </a:r>
            <a:r>
              <a:rPr dirty="0" err="1"/>
              <a:t>Berdasarkan</a:t>
            </a:r>
            <a:r>
              <a:rPr dirty="0"/>
              <a:t> </a:t>
            </a:r>
            <a:r>
              <a:rPr dirty="0" err="1"/>
              <a:t>Arsitektur</a:t>
            </a:r>
            <a:r>
              <a:rPr dirty="0"/>
              <a:t> Von Neumann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Penjelasan sistem komunikasi antara CPU, memori, dan perangkat I/O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Pengertian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3200" dirty="0"/>
              <a:t>CPU </a:t>
            </a:r>
            <a:r>
              <a:rPr sz="3200" dirty="0" err="1"/>
              <a:t>adalah</a:t>
            </a:r>
            <a:r>
              <a:rPr sz="3200" dirty="0"/>
              <a:t> </a:t>
            </a:r>
            <a:r>
              <a:rPr sz="3200" dirty="0" err="1"/>
              <a:t>otak</a:t>
            </a:r>
            <a:r>
              <a:rPr sz="3200" dirty="0"/>
              <a:t> </a:t>
            </a:r>
            <a:r>
              <a:rPr sz="3200" dirty="0" err="1"/>
              <a:t>komputer</a:t>
            </a:r>
            <a:r>
              <a:rPr sz="3200" dirty="0"/>
              <a:t> yang </a:t>
            </a:r>
            <a:r>
              <a:rPr sz="3200" dirty="0" err="1"/>
              <a:t>menjalankan</a:t>
            </a:r>
            <a:r>
              <a:rPr sz="3200" dirty="0"/>
              <a:t> </a:t>
            </a:r>
            <a:r>
              <a:rPr sz="3200" dirty="0" err="1"/>
              <a:t>instruksi</a:t>
            </a:r>
            <a:r>
              <a:rPr sz="3200" dirty="0"/>
              <a:t> program dan </a:t>
            </a:r>
            <a:r>
              <a:rPr sz="3200" dirty="0" err="1"/>
              <a:t>mengendalikan</a:t>
            </a:r>
            <a:r>
              <a:rPr sz="3200" dirty="0"/>
              <a:t> </a:t>
            </a:r>
            <a:r>
              <a:rPr sz="3200" dirty="0" err="1"/>
              <a:t>seluruh</a:t>
            </a:r>
            <a:r>
              <a:rPr sz="3200" dirty="0"/>
              <a:t> </a:t>
            </a:r>
            <a:r>
              <a:rPr sz="3200" dirty="0" err="1"/>
              <a:t>komponen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Fungsi Utama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Control Unit (CU): </a:t>
            </a:r>
            <a:r>
              <a:rPr dirty="0" err="1"/>
              <a:t>Mengatur</a:t>
            </a:r>
            <a:r>
              <a:rPr dirty="0"/>
              <a:t> </a:t>
            </a:r>
            <a:r>
              <a:rPr dirty="0" err="1"/>
              <a:t>jalannya</a:t>
            </a:r>
            <a:r>
              <a:rPr dirty="0"/>
              <a:t> program dan </a:t>
            </a:r>
            <a:r>
              <a:rPr dirty="0" err="1"/>
              <a:t>komunikasi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Arithmetic Logic Unit (ALU): </a:t>
            </a:r>
            <a:r>
              <a:rPr dirty="0" err="1"/>
              <a:t>Operasi</a:t>
            </a:r>
            <a:r>
              <a:rPr dirty="0"/>
              <a:t> </a:t>
            </a:r>
            <a:r>
              <a:rPr dirty="0" err="1"/>
              <a:t>aritmetika</a:t>
            </a:r>
            <a:r>
              <a:rPr dirty="0"/>
              <a:t> dan </a:t>
            </a:r>
            <a:r>
              <a:rPr dirty="0" err="1"/>
              <a:t>logika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Register: </a:t>
            </a:r>
            <a:r>
              <a:rPr dirty="0" err="1"/>
              <a:t>Penyimpanan</a:t>
            </a:r>
            <a:r>
              <a:rPr dirty="0"/>
              <a:t> data </a:t>
            </a:r>
            <a:r>
              <a:rPr dirty="0" err="1"/>
              <a:t>sementara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4. Bus System: Jalur </a:t>
            </a:r>
            <a:r>
              <a:rPr dirty="0" err="1"/>
              <a:t>komunikasi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Struktur CPU (Central Processing Unit)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CPU </a:t>
            </a:r>
            <a:r>
              <a:rPr dirty="0" err="1"/>
              <a:t>terdiri</a:t>
            </a:r>
            <a:r>
              <a:rPr dirty="0"/>
              <a:t> </a:t>
            </a:r>
            <a:r>
              <a:rPr dirty="0" err="1"/>
              <a:t>atas</a:t>
            </a:r>
            <a:r>
              <a:rPr dirty="0"/>
              <a:t> </a:t>
            </a:r>
            <a:r>
              <a:rPr dirty="0" err="1"/>
              <a:t>tiga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:</a:t>
            </a:r>
          </a:p>
          <a:p>
            <a:r>
              <a:rPr dirty="0"/>
              <a:t>Control Unit (CU): </a:t>
            </a:r>
            <a:r>
              <a:rPr dirty="0" err="1"/>
              <a:t>Mengatur</a:t>
            </a:r>
            <a:r>
              <a:rPr dirty="0"/>
              <a:t> dan </a:t>
            </a:r>
            <a:r>
              <a:rPr dirty="0" err="1"/>
              <a:t>mengendalikan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aktivitas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komputer</a:t>
            </a:r>
            <a:r>
              <a:rPr dirty="0"/>
              <a:t>.</a:t>
            </a:r>
          </a:p>
          <a:p>
            <a:r>
              <a:rPr dirty="0"/>
              <a:t>Arithmetic and Logic Unit (ALU): </a:t>
            </a:r>
            <a:r>
              <a:rPr dirty="0" err="1"/>
              <a:t>Melakukan</a:t>
            </a:r>
            <a:r>
              <a:rPr dirty="0"/>
              <a:t> </a:t>
            </a:r>
            <a:r>
              <a:rPr dirty="0" err="1"/>
              <a:t>operasi</a:t>
            </a:r>
            <a:r>
              <a:rPr dirty="0"/>
              <a:t> </a:t>
            </a:r>
            <a:r>
              <a:rPr dirty="0" err="1"/>
              <a:t>aritmetika</a:t>
            </a:r>
            <a:r>
              <a:rPr dirty="0"/>
              <a:t> dan </a:t>
            </a:r>
            <a:r>
              <a:rPr dirty="0" err="1"/>
              <a:t>logika</a:t>
            </a:r>
            <a:r>
              <a:rPr dirty="0"/>
              <a:t>.</a:t>
            </a:r>
          </a:p>
          <a:p>
            <a:r>
              <a:rPr dirty="0"/>
              <a:t>Registers: </a:t>
            </a:r>
            <a:r>
              <a:rPr dirty="0" err="1"/>
              <a:t>Penyimpanan</a:t>
            </a:r>
            <a:r>
              <a:rPr dirty="0"/>
              <a:t> </a:t>
            </a:r>
            <a:r>
              <a:rPr dirty="0" err="1"/>
              <a:t>kecil</a:t>
            </a:r>
            <a:r>
              <a:rPr dirty="0"/>
              <a:t> </a:t>
            </a:r>
            <a:r>
              <a:rPr dirty="0" err="1"/>
              <a:t>berkecepatan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di </a:t>
            </a:r>
            <a:r>
              <a:rPr dirty="0" err="1"/>
              <a:t>dalam</a:t>
            </a:r>
            <a:r>
              <a:rPr dirty="0"/>
              <a:t> CPU.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Bus dan Jenis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CPU </a:t>
            </a:r>
            <a:r>
              <a:rPr dirty="0" err="1"/>
              <a:t>menggunakan</a:t>
            </a:r>
            <a:r>
              <a:rPr dirty="0"/>
              <a:t> CPU bus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menghubungkan</a:t>
            </a:r>
            <a:r>
              <a:rPr dirty="0"/>
              <a:t> CU, ALU, dan register.</a:t>
            </a:r>
          </a:p>
          <a:p>
            <a:r>
              <a:rPr dirty="0"/>
              <a:t>Tiga </a:t>
            </a:r>
            <a:r>
              <a:rPr dirty="0" err="1"/>
              <a:t>jenis</a:t>
            </a:r>
            <a:r>
              <a:rPr dirty="0"/>
              <a:t> bus </a:t>
            </a:r>
            <a:r>
              <a:rPr dirty="0" err="1"/>
              <a:t>utama</a:t>
            </a:r>
            <a:r>
              <a:rPr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Control Bus – </a:t>
            </a:r>
            <a:r>
              <a:rPr dirty="0" err="1"/>
              <a:t>Mengirim</a:t>
            </a:r>
            <a:r>
              <a:rPr dirty="0"/>
              <a:t> </a:t>
            </a:r>
            <a:r>
              <a:rPr dirty="0" err="1"/>
              <a:t>sinyal</a:t>
            </a:r>
            <a:r>
              <a:rPr dirty="0"/>
              <a:t> </a:t>
            </a:r>
            <a:r>
              <a:rPr dirty="0" err="1"/>
              <a:t>kontrol</a:t>
            </a:r>
            <a:r>
              <a:rPr dirty="0"/>
              <a:t> (</a:t>
            </a:r>
            <a:r>
              <a:rPr dirty="0" err="1"/>
              <a:t>baca</a:t>
            </a:r>
            <a:r>
              <a:rPr dirty="0"/>
              <a:t>/</a:t>
            </a:r>
            <a:r>
              <a:rPr dirty="0" err="1"/>
              <a:t>tulis</a:t>
            </a:r>
            <a:r>
              <a:rPr dirty="0"/>
              <a:t>, </a:t>
            </a:r>
            <a:r>
              <a:rPr dirty="0" err="1"/>
              <a:t>interupsi</a:t>
            </a:r>
            <a:r>
              <a:rPr dirty="0"/>
              <a:t>, status).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Data Bus – Jalur </a:t>
            </a:r>
            <a:r>
              <a:rPr dirty="0" err="1"/>
              <a:t>pertukaran</a:t>
            </a:r>
            <a:r>
              <a:rPr dirty="0"/>
              <a:t> data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 (dua </a:t>
            </a:r>
            <a:r>
              <a:rPr dirty="0" err="1"/>
              <a:t>arah</a:t>
            </a:r>
            <a:r>
              <a:rPr dirty="0"/>
              <a:t>).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Address Bus – </a:t>
            </a:r>
            <a:r>
              <a:rPr dirty="0" err="1"/>
              <a:t>Menunjukkan</a:t>
            </a:r>
            <a:r>
              <a:rPr dirty="0"/>
              <a:t> </a:t>
            </a:r>
            <a:r>
              <a:rPr dirty="0" err="1"/>
              <a:t>alamat</a:t>
            </a:r>
            <a:r>
              <a:rPr dirty="0"/>
              <a:t> </a:t>
            </a:r>
            <a:r>
              <a:rPr dirty="0" err="1"/>
              <a:t>lokasi</a:t>
            </a:r>
            <a:r>
              <a:rPr dirty="0"/>
              <a:t> data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 di </a:t>
            </a:r>
            <a:r>
              <a:rPr dirty="0" err="1"/>
              <a:t>memori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Peran RAM dan Perangkat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Access Memory (RAM): </a:t>
            </a:r>
            <a:r>
              <a:rPr dirty="0" err="1"/>
              <a:t>Menyimpan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 dan data </a:t>
            </a:r>
            <a:r>
              <a:rPr dirty="0" err="1"/>
              <a:t>sementara</a:t>
            </a:r>
            <a:r>
              <a:rPr dirty="0"/>
              <a:t>.</a:t>
            </a:r>
          </a:p>
          <a:p>
            <a:r>
              <a:rPr dirty="0"/>
              <a:t>Input Devices: </a:t>
            </a:r>
            <a:r>
              <a:rPr dirty="0" err="1"/>
              <a:t>Mengirimkan</a:t>
            </a:r>
            <a:r>
              <a:rPr dirty="0"/>
              <a:t> data </a:t>
            </a:r>
            <a:r>
              <a:rPr dirty="0" err="1"/>
              <a:t>ke</a:t>
            </a:r>
            <a:r>
              <a:rPr dirty="0"/>
              <a:t> CPU (keyboard, mouse, scanner).</a:t>
            </a:r>
          </a:p>
          <a:p>
            <a:r>
              <a:rPr dirty="0"/>
              <a:t>Output Devices: </a:t>
            </a:r>
            <a:r>
              <a:rPr dirty="0" err="1"/>
              <a:t>Menerima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pemrosesan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CPU (monitor, printer).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7E9D-345F-7DD0-09CD-2556ED9D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34C93E-567E-5B78-1F65-51519F1F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33B6B-DE32-2080-5687-0FAB9703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522" y="2262024"/>
            <a:ext cx="6134956" cy="233395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D4B5FD3-2B1C-DED4-42E4-884C5221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0935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FC87-411B-5D02-4625-1B3C619F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CC9D4-89AA-43E3-5A2B-305EB7E60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d-ID" b="1" dirty="0" err="1"/>
              <a:t>Random</a:t>
            </a:r>
            <a:r>
              <a:rPr lang="id-ID" b="1" dirty="0"/>
              <a:t> Access </a:t>
            </a:r>
            <a:r>
              <a:rPr lang="id-ID" b="1" dirty="0" err="1"/>
              <a:t>Memory</a:t>
            </a:r>
            <a:r>
              <a:rPr lang="id-ID" b="1" dirty="0"/>
              <a:t> (RAM)</a:t>
            </a:r>
          </a:p>
          <a:p>
            <a:r>
              <a:rPr lang="id-ID" dirty="0"/>
              <a:t>RAM berfungsi sebagai </a:t>
            </a:r>
            <a:r>
              <a:rPr lang="id-ID" b="1" dirty="0"/>
              <a:t>penyimpanan sementara</a:t>
            </a:r>
            <a:r>
              <a:rPr lang="id-ID" dirty="0"/>
              <a:t> bagi:</a:t>
            </a:r>
          </a:p>
          <a:p>
            <a:pPr lvl="1"/>
            <a:r>
              <a:rPr lang="id-ID" b="1" dirty="0"/>
              <a:t>Instruksi program</a:t>
            </a:r>
            <a:r>
              <a:rPr lang="id-ID" dirty="0"/>
              <a:t> yang akan dieksekusi CPU.</a:t>
            </a:r>
          </a:p>
          <a:p>
            <a:pPr lvl="1"/>
            <a:r>
              <a:rPr lang="id-ID" b="1" dirty="0"/>
              <a:t>Data</a:t>
            </a:r>
            <a:r>
              <a:rPr lang="id-ID" dirty="0"/>
              <a:t> yang akan digunakan atau diproses.</a:t>
            </a:r>
          </a:p>
          <a:p>
            <a:r>
              <a:rPr lang="id-ID" dirty="0"/>
              <a:t>Semua instruksi dan data harus </a:t>
            </a:r>
            <a:r>
              <a:rPr lang="id-ID" b="1" dirty="0"/>
              <a:t>diambil dari RAM</a:t>
            </a:r>
            <a:r>
              <a:rPr lang="id-ID" dirty="0"/>
              <a:t> sebelum dapat diproses CPU.</a:t>
            </a:r>
          </a:p>
          <a:p>
            <a:pPr marL="0" indent="0">
              <a:buNone/>
            </a:pPr>
            <a:br>
              <a:rPr lang="id-ID" dirty="0"/>
            </a:br>
            <a:r>
              <a:rPr lang="id-ID" b="1" dirty="0" err="1"/>
              <a:t>Central</a:t>
            </a:r>
            <a:r>
              <a:rPr lang="id-ID" b="1" dirty="0"/>
              <a:t> </a:t>
            </a:r>
            <a:r>
              <a:rPr lang="id-ID" b="1" dirty="0" err="1"/>
              <a:t>Processing</a:t>
            </a:r>
            <a:r>
              <a:rPr lang="id-ID" b="1" dirty="0"/>
              <a:t> Unit (CPU)</a:t>
            </a:r>
          </a:p>
          <a:p>
            <a:r>
              <a:rPr lang="id-ID" dirty="0"/>
              <a:t>CPU adalah pengendali utama sistem, bertugas:</a:t>
            </a:r>
          </a:p>
          <a:p>
            <a:pPr lvl="1"/>
            <a:r>
              <a:rPr lang="id-ID" b="1" dirty="0"/>
              <a:t>Mengirimkan sinyal</a:t>
            </a:r>
            <a:r>
              <a:rPr lang="id-ID" dirty="0"/>
              <a:t> ke RAM untuk </a:t>
            </a:r>
            <a:r>
              <a:rPr lang="id-ID" b="1" dirty="0"/>
              <a:t>meminta instruksi atau data</a:t>
            </a:r>
            <a:r>
              <a:rPr lang="id-ID" dirty="0"/>
              <a:t> yang diperlukan.</a:t>
            </a:r>
          </a:p>
          <a:p>
            <a:pPr lvl="1"/>
            <a:r>
              <a:rPr lang="id-ID" b="1" dirty="0"/>
              <a:t>Menerima data atau instruksi</a:t>
            </a:r>
            <a:r>
              <a:rPr lang="id-ID" dirty="0"/>
              <a:t> dari RAM untuk kemudian dieksekusi melalui proses </a:t>
            </a:r>
            <a:r>
              <a:rPr lang="id-ID" b="1" dirty="0" err="1"/>
              <a:t>Fetch</a:t>
            </a:r>
            <a:r>
              <a:rPr lang="id-ID" b="1" dirty="0"/>
              <a:t>–</a:t>
            </a:r>
            <a:r>
              <a:rPr lang="id-ID" b="1" dirty="0" err="1"/>
              <a:t>Decode</a:t>
            </a:r>
            <a:r>
              <a:rPr lang="id-ID" b="1" dirty="0"/>
              <a:t>–</a:t>
            </a:r>
            <a:r>
              <a:rPr lang="id-ID" b="1" dirty="0" err="1"/>
              <a:t>Execute</a:t>
            </a:r>
            <a:r>
              <a:rPr lang="id-ID" b="1" dirty="0"/>
              <a:t>–Store.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9546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469B-A9DB-5FC8-CC28-3F80F48F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1118-611A-750A-1889-0BC21BA8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7E28B-5706-6D46-239A-0474E2B6A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b="1" dirty="0"/>
              <a:t>Jalur Komunikasi (Bus System)</a:t>
            </a:r>
          </a:p>
          <a:p>
            <a:pPr marL="400050" lvl="1" indent="0">
              <a:buNone/>
            </a:pPr>
            <a:r>
              <a:rPr lang="id-ID" b="1" dirty="0" err="1"/>
              <a:t>Address</a:t>
            </a:r>
            <a:r>
              <a:rPr lang="id-ID" b="1" dirty="0"/>
              <a:t> Bus</a:t>
            </a:r>
            <a:r>
              <a:rPr lang="id-ID" dirty="0"/>
              <a:t> → Digunakan CPU untuk </a:t>
            </a:r>
            <a:r>
              <a:rPr lang="id-ID" b="1" dirty="0"/>
              <a:t>menentukan alamat</a:t>
            </a:r>
            <a:r>
              <a:rPr lang="id-ID" dirty="0"/>
              <a:t> lokasi data atau instruksi di RAM yang ingin diakses.</a:t>
            </a:r>
          </a:p>
          <a:p>
            <a:pPr marL="400050" lvl="1" indent="0">
              <a:buNone/>
            </a:pPr>
            <a:r>
              <a:rPr lang="id-ID" b="1" dirty="0"/>
              <a:t>Data Bus</a:t>
            </a:r>
            <a:r>
              <a:rPr lang="id-ID" dirty="0"/>
              <a:t> → Digunakan untuk </a:t>
            </a:r>
            <a:r>
              <a:rPr lang="id-ID" b="1" dirty="0"/>
              <a:t>mentransfer data atau instruksi</a:t>
            </a:r>
            <a:r>
              <a:rPr lang="id-ID" dirty="0"/>
              <a:t> dari RAM ke CPU (atau sebaliknya).</a:t>
            </a:r>
          </a:p>
          <a:p>
            <a:pPr marL="0" indent="0">
              <a:buNone/>
            </a:pPr>
            <a:br>
              <a:rPr lang="id-ID" dirty="0"/>
            </a:br>
            <a:r>
              <a:rPr lang="id-ID" b="1" dirty="0"/>
              <a:t>Alur Proses (Simplifikasi)</a:t>
            </a:r>
          </a:p>
          <a:p>
            <a:pPr marL="400050" lvl="1" indent="0">
              <a:buNone/>
            </a:pPr>
            <a:r>
              <a:rPr lang="id-ID" dirty="0"/>
              <a:t>Program disimpan dalam RAM.</a:t>
            </a:r>
          </a:p>
          <a:p>
            <a:pPr marL="400050" lvl="1" indent="0">
              <a:buNone/>
            </a:pPr>
            <a:r>
              <a:rPr lang="id-ID" dirty="0"/>
              <a:t>CPU mengirim </a:t>
            </a:r>
            <a:r>
              <a:rPr lang="id-ID" b="1" dirty="0"/>
              <a:t>alamat instruksi/data</a:t>
            </a:r>
            <a:r>
              <a:rPr lang="id-ID" dirty="0"/>
              <a:t> ke RAM melalui </a:t>
            </a:r>
            <a:r>
              <a:rPr lang="id-ID" b="1" dirty="0" err="1"/>
              <a:t>Address</a:t>
            </a:r>
            <a:r>
              <a:rPr lang="id-ID" b="1" dirty="0"/>
              <a:t> Bus.</a:t>
            </a:r>
            <a:endParaRPr lang="id-ID" dirty="0"/>
          </a:p>
          <a:p>
            <a:pPr marL="400050" lvl="1" indent="0">
              <a:buNone/>
            </a:pPr>
            <a:r>
              <a:rPr lang="id-ID" dirty="0"/>
              <a:t>RAM mengirimkan </a:t>
            </a:r>
            <a:r>
              <a:rPr lang="id-ID" b="1" dirty="0"/>
              <a:t>isi data/instruksi</a:t>
            </a:r>
            <a:r>
              <a:rPr lang="id-ID" dirty="0"/>
              <a:t> ke CPU melalui </a:t>
            </a:r>
            <a:r>
              <a:rPr lang="id-ID" b="1" dirty="0"/>
              <a:t>Data Bus.</a:t>
            </a:r>
            <a:endParaRPr lang="id-ID" dirty="0"/>
          </a:p>
          <a:p>
            <a:pPr marL="400050" lvl="1" indent="0">
              <a:buNone/>
            </a:pPr>
            <a:r>
              <a:rPr lang="id-ID" dirty="0"/>
              <a:t>CPU </a:t>
            </a:r>
            <a:r>
              <a:rPr lang="id-ID" b="1" dirty="0"/>
              <a:t>mengeksekusi</a:t>
            </a:r>
            <a:r>
              <a:rPr lang="id-ID" dirty="0"/>
              <a:t> instruksi yang diterima.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3438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 Kerja CPU (Instruction Cycle)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Fetch – Ambil </a:t>
            </a:r>
            <a:r>
              <a:rPr dirty="0" err="1"/>
              <a:t>instruksi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memori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Decode – </a:t>
            </a:r>
            <a:r>
              <a:rPr dirty="0" err="1"/>
              <a:t>Terjemahkan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Execute – </a:t>
            </a:r>
            <a:r>
              <a:rPr dirty="0" err="1"/>
              <a:t>Jalankan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ALU.</a:t>
            </a:r>
          </a:p>
          <a:p>
            <a:pPr marL="0" indent="0">
              <a:buNone/>
            </a:pPr>
            <a:r>
              <a:rPr dirty="0"/>
              <a:t>4. Store –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memori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Von Neumann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Konsep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:</a:t>
            </a:r>
          </a:p>
          <a:p>
            <a:pPr marL="342900" lvl="1" indent="0">
              <a:buNone/>
            </a:pPr>
            <a:r>
              <a:rPr dirty="0"/>
              <a:t>- Program &amp; data </a:t>
            </a:r>
            <a:r>
              <a:rPr dirty="0" err="1"/>
              <a:t>disimpan</a:t>
            </a:r>
            <a:r>
              <a:rPr dirty="0"/>
              <a:t> di </a:t>
            </a:r>
            <a:r>
              <a:rPr dirty="0" err="1"/>
              <a:t>memori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.</a:t>
            </a:r>
          </a:p>
          <a:p>
            <a:pPr marL="342900" lvl="1" indent="0">
              <a:buNone/>
            </a:pPr>
            <a:r>
              <a:rPr dirty="0"/>
              <a:t>- CPU </a:t>
            </a:r>
            <a:r>
              <a:rPr dirty="0" err="1"/>
              <a:t>mengakses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bus yang </a:t>
            </a:r>
            <a:r>
              <a:rPr dirty="0" err="1"/>
              <a:t>sama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Komponen</a:t>
            </a:r>
            <a:r>
              <a:rPr dirty="0"/>
              <a:t>: Input, Memory, Control Unit, ALU, Output.</a:t>
            </a:r>
          </a:p>
          <a:p>
            <a:endParaRPr dirty="0"/>
          </a:p>
          <a:p>
            <a:r>
              <a:rPr dirty="0"/>
              <a:t>Alur: Input → Memory → CU → ALU → Output → (</a:t>
            </a:r>
            <a:r>
              <a:rPr dirty="0" err="1"/>
              <a:t>kembali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Memory)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CAE5-4A31-589E-6EFD-E5BB174D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9B07-D1E3-BC8A-74D2-965A64AC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2F4FD-61C7-E4A4-8BE4-26AFD5D07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06" y="1499918"/>
            <a:ext cx="5820587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98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Komponen Pendukung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Cache Memory: Akses data </a:t>
            </a:r>
            <a:r>
              <a:rPr dirty="0" err="1"/>
              <a:t>cepat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Clock: </a:t>
            </a:r>
            <a:r>
              <a:rPr dirty="0" err="1"/>
              <a:t>Mengatur</a:t>
            </a:r>
            <a:r>
              <a:rPr dirty="0"/>
              <a:t> </a:t>
            </a:r>
            <a:r>
              <a:rPr dirty="0" err="1"/>
              <a:t>kecepatan</a:t>
            </a:r>
            <a:r>
              <a:rPr dirty="0"/>
              <a:t> </a:t>
            </a:r>
            <a:r>
              <a:rPr dirty="0" err="1"/>
              <a:t>eksekusi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Bus Data &amp; Bus Alamat: </a:t>
            </a:r>
            <a:r>
              <a:rPr dirty="0" err="1"/>
              <a:t>Menghubungkan</a:t>
            </a:r>
            <a:r>
              <a:rPr dirty="0"/>
              <a:t> CPU-RAM.</a:t>
            </a:r>
          </a:p>
          <a:p>
            <a:pPr marL="0" indent="0">
              <a:buNone/>
            </a:pPr>
            <a:r>
              <a:rPr dirty="0"/>
              <a:t>4. Pipeline: </a:t>
            </a:r>
            <a:r>
              <a:rPr dirty="0" err="1"/>
              <a:t>Menjalankan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 </a:t>
            </a:r>
            <a:r>
              <a:rPr dirty="0" err="1"/>
              <a:t>paralel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Prosesor Multi-core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Prosesor multi-core memiliki lebih dari satu inti pemrosesan (core) dalam satu chip.</a:t>
            </a:r>
          </a:p>
          <a:p>
            <a:r>
              <a:t>Setiap core dapat mengeksekusi instruksi secara independen namun berbagi sebagian sumber daya.</a:t>
            </a:r>
          </a:p>
          <a:p>
            <a:endParaRPr/>
          </a:p>
          <a:p>
            <a:r>
              <a:t>Tujuan utama: meningkatkan kecepatan dan efisiensi pemrosesan melalui eksekusi paralel.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dalam Prosesor Multi-core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23D57-319A-FC77-8D32-1D2644DFAF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910" r="953"/>
          <a:stretch>
            <a:fillRect/>
          </a:stretch>
        </p:blipFill>
        <p:spPr bwMode="auto">
          <a:xfrm>
            <a:off x="993058" y="1846201"/>
            <a:ext cx="7310704" cy="34435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CCAD-DEE6-E813-730B-F2F8C55F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132D-1138-C517-3CFE-42E54E8D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dalam Prosesor Multi-core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DE46B8-E2DF-EB38-9EA9-823B9F25EB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438"/>
          <a:stretch>
            <a:fillRect/>
          </a:stretch>
        </p:blipFill>
        <p:spPr bwMode="auto">
          <a:xfrm>
            <a:off x="1706245" y="2320290"/>
            <a:ext cx="5731510" cy="22174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7364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Penjelasan Cache Multi-core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Setiap</a:t>
            </a:r>
            <a:r>
              <a:rPr dirty="0"/>
              <a:t> core </a:t>
            </a:r>
            <a:r>
              <a:rPr dirty="0" err="1"/>
              <a:t>memiliki</a:t>
            </a:r>
            <a:r>
              <a:rPr dirty="0"/>
              <a:t> cache </a:t>
            </a:r>
            <a:r>
              <a:rPr dirty="0" err="1"/>
              <a:t>sendiri</a:t>
            </a:r>
            <a:r>
              <a:rPr dirty="0"/>
              <a:t> (</a:t>
            </a:r>
            <a:r>
              <a:rPr dirty="0" err="1"/>
              <a:t>L1</a:t>
            </a:r>
            <a:r>
              <a:rPr dirty="0"/>
              <a:t> dan </a:t>
            </a:r>
            <a:r>
              <a:rPr dirty="0" err="1"/>
              <a:t>L2</a:t>
            </a:r>
            <a:r>
              <a:rPr dirty="0"/>
              <a:t>)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mempercepat</a:t>
            </a:r>
            <a:r>
              <a:rPr dirty="0"/>
              <a:t> </a:t>
            </a:r>
            <a:r>
              <a:rPr dirty="0" err="1"/>
              <a:t>akses</a:t>
            </a:r>
            <a:r>
              <a:rPr dirty="0"/>
              <a:t> data.</a:t>
            </a:r>
          </a:p>
          <a:p>
            <a:r>
              <a:rPr dirty="0"/>
              <a:t>Cache </a:t>
            </a:r>
            <a:r>
              <a:rPr dirty="0" err="1"/>
              <a:t>L3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bersama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core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sinkronisasi</a:t>
            </a:r>
            <a:r>
              <a:rPr dirty="0"/>
              <a:t> data.</a:t>
            </a:r>
          </a:p>
          <a:p>
            <a:r>
              <a:rPr dirty="0" err="1"/>
              <a:t>Tingkatan</a:t>
            </a:r>
            <a:r>
              <a:rPr dirty="0"/>
              <a:t> cache:</a:t>
            </a:r>
          </a:p>
          <a:p>
            <a:pPr lvl="1"/>
            <a:r>
              <a:rPr dirty="0" err="1"/>
              <a:t>L1</a:t>
            </a:r>
            <a:r>
              <a:rPr dirty="0"/>
              <a:t> Cache: Paling </a:t>
            </a:r>
            <a:r>
              <a:rPr dirty="0" err="1"/>
              <a:t>cepat</a:t>
            </a:r>
            <a:r>
              <a:rPr dirty="0"/>
              <a:t>, </a:t>
            </a:r>
            <a:r>
              <a:rPr dirty="0" err="1"/>
              <a:t>menyimpan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 dan data </a:t>
            </a:r>
            <a:r>
              <a:rPr dirty="0" err="1"/>
              <a:t>sering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.</a:t>
            </a:r>
          </a:p>
          <a:p>
            <a:pPr lvl="1"/>
            <a:r>
              <a:rPr dirty="0" err="1"/>
              <a:t>L2</a:t>
            </a:r>
            <a:r>
              <a:rPr dirty="0"/>
              <a:t> Cache: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besar</a:t>
            </a:r>
            <a:r>
              <a:rPr dirty="0"/>
              <a:t>, </a:t>
            </a:r>
            <a:r>
              <a:rPr dirty="0" err="1"/>
              <a:t>sedikit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lambat</a:t>
            </a:r>
            <a:r>
              <a:rPr dirty="0"/>
              <a:t>.</a:t>
            </a:r>
          </a:p>
          <a:p>
            <a:pPr lvl="1"/>
            <a:r>
              <a:rPr dirty="0" err="1"/>
              <a:t>L3</a:t>
            </a:r>
            <a:r>
              <a:rPr dirty="0"/>
              <a:t> Cache: Shared </a:t>
            </a:r>
            <a:r>
              <a:rPr dirty="0" err="1"/>
              <a:t>antar</a:t>
            </a:r>
            <a:r>
              <a:rPr dirty="0"/>
              <a:t> core, </a:t>
            </a:r>
            <a:r>
              <a:rPr dirty="0" err="1"/>
              <a:t>menjaga</a:t>
            </a:r>
            <a:r>
              <a:rPr dirty="0"/>
              <a:t> </a:t>
            </a:r>
            <a:r>
              <a:rPr dirty="0" err="1"/>
              <a:t>konsistensi</a:t>
            </a:r>
            <a:r>
              <a:rPr dirty="0"/>
              <a:t> dan </a:t>
            </a:r>
            <a:r>
              <a:rPr dirty="0" err="1"/>
              <a:t>koordinasi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 Prosesor Dual-core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Prosesor</a:t>
            </a:r>
            <a:r>
              <a:rPr dirty="0"/>
              <a:t> dual-core </a:t>
            </a:r>
            <a:r>
              <a:rPr dirty="0" err="1"/>
              <a:t>memiliki</a:t>
            </a:r>
            <a:r>
              <a:rPr dirty="0"/>
              <a:t> dua inti (Core 0 dan Core 1), masing-masing </a:t>
            </a:r>
            <a:r>
              <a:rPr dirty="0" err="1"/>
              <a:t>berisi</a:t>
            </a:r>
            <a:r>
              <a:rPr dirty="0"/>
              <a:t>:</a:t>
            </a:r>
          </a:p>
          <a:p>
            <a:pPr marL="342900" lvl="1" indent="0">
              <a:buNone/>
            </a:pPr>
            <a:r>
              <a:rPr dirty="0"/>
              <a:t>- Control Unit (CU): </a:t>
            </a:r>
            <a:r>
              <a:rPr dirty="0" err="1"/>
              <a:t>Mengatur</a:t>
            </a:r>
            <a:r>
              <a:rPr dirty="0"/>
              <a:t> </a:t>
            </a:r>
            <a:r>
              <a:rPr dirty="0" err="1"/>
              <a:t>eksekusi</a:t>
            </a:r>
            <a:r>
              <a:rPr dirty="0"/>
              <a:t> </a:t>
            </a:r>
            <a:r>
              <a:rPr dirty="0" err="1"/>
              <a:t>instruksi</a:t>
            </a:r>
            <a:r>
              <a:rPr dirty="0"/>
              <a:t>.</a:t>
            </a:r>
          </a:p>
          <a:p>
            <a:pPr marL="342900" lvl="1" indent="0">
              <a:buNone/>
            </a:pPr>
            <a:r>
              <a:rPr dirty="0"/>
              <a:t>- Arithmetic and Logic Unit (ALU): </a:t>
            </a:r>
            <a:r>
              <a:rPr dirty="0" err="1"/>
              <a:t>Melakukan</a:t>
            </a:r>
            <a:r>
              <a:rPr dirty="0"/>
              <a:t> </a:t>
            </a:r>
            <a:r>
              <a:rPr dirty="0" err="1"/>
              <a:t>perhitungan</a:t>
            </a:r>
            <a:r>
              <a:rPr dirty="0"/>
              <a:t> dan </a:t>
            </a:r>
            <a:r>
              <a:rPr dirty="0" err="1"/>
              <a:t>operasi</a:t>
            </a:r>
            <a:r>
              <a:rPr dirty="0"/>
              <a:t> </a:t>
            </a:r>
            <a:r>
              <a:rPr dirty="0" err="1"/>
              <a:t>logika</a:t>
            </a:r>
            <a:r>
              <a:rPr dirty="0"/>
              <a:t>.</a:t>
            </a:r>
          </a:p>
          <a:p>
            <a:pPr marL="342900" lvl="1" indent="0">
              <a:buNone/>
            </a:pPr>
            <a:r>
              <a:rPr dirty="0"/>
              <a:t>- Register Set: </a:t>
            </a:r>
            <a:r>
              <a:rPr dirty="0" err="1"/>
              <a:t>Penyimpanan</a:t>
            </a:r>
            <a:r>
              <a:rPr dirty="0"/>
              <a:t> </a:t>
            </a:r>
            <a:r>
              <a:rPr dirty="0" err="1"/>
              <a:t>sementara</a:t>
            </a:r>
            <a:r>
              <a:rPr dirty="0"/>
              <a:t> </a:t>
            </a:r>
            <a:r>
              <a:rPr dirty="0" err="1"/>
              <a:t>berkecepatan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Core </a:t>
            </a:r>
            <a:r>
              <a:rPr dirty="0" err="1"/>
              <a:t>bekerja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paralel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meningkatkan</a:t>
            </a:r>
            <a:r>
              <a:rPr dirty="0"/>
              <a:t> </a:t>
            </a:r>
            <a:r>
              <a:rPr dirty="0" err="1"/>
              <a:t>performa</a:t>
            </a:r>
            <a:r>
              <a:rPr dirty="0"/>
              <a:t> dan </a:t>
            </a:r>
            <a:r>
              <a:rPr dirty="0" err="1"/>
              <a:t>efisiensi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Keunggulan Arsitektur Multi-core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Kinerja: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menjalankan</a:t>
            </a:r>
            <a:r>
              <a:rPr dirty="0"/>
              <a:t> </a:t>
            </a:r>
            <a:r>
              <a:rPr dirty="0" err="1"/>
              <a:t>beberapa</a:t>
            </a:r>
            <a:r>
              <a:rPr dirty="0"/>
              <a:t> proses </a:t>
            </a:r>
            <a:r>
              <a:rPr dirty="0" err="1"/>
              <a:t>paralel</a:t>
            </a:r>
            <a:r>
              <a:rPr dirty="0"/>
              <a:t>.</a:t>
            </a:r>
          </a:p>
          <a:p>
            <a:r>
              <a:rPr dirty="0" err="1"/>
              <a:t>Efisiensi</a:t>
            </a:r>
            <a:r>
              <a:rPr dirty="0"/>
              <a:t> Energi: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hemat</a:t>
            </a:r>
            <a:r>
              <a:rPr dirty="0"/>
              <a:t> </a:t>
            </a:r>
            <a:r>
              <a:rPr dirty="0" err="1"/>
              <a:t>daya</a:t>
            </a:r>
            <a:r>
              <a:rPr dirty="0"/>
              <a:t> </a:t>
            </a:r>
            <a:r>
              <a:rPr dirty="0" err="1"/>
              <a:t>dibandingkan</a:t>
            </a:r>
            <a:r>
              <a:rPr dirty="0"/>
              <a:t> </a:t>
            </a:r>
            <a:r>
              <a:rPr dirty="0" err="1"/>
              <a:t>peningkatan</a:t>
            </a:r>
            <a:r>
              <a:rPr dirty="0"/>
              <a:t> clock speed.</a:t>
            </a:r>
          </a:p>
          <a:p>
            <a:r>
              <a:rPr dirty="0" err="1"/>
              <a:t>Responsivitas</a:t>
            </a:r>
            <a:r>
              <a:rPr dirty="0"/>
              <a:t>: </a:t>
            </a:r>
            <a:r>
              <a:rPr dirty="0" err="1"/>
              <a:t>Meningkatkan</a:t>
            </a:r>
            <a:r>
              <a:rPr dirty="0"/>
              <a:t> </a:t>
            </a:r>
            <a:r>
              <a:rPr dirty="0" err="1"/>
              <a:t>performa</a:t>
            </a:r>
            <a:r>
              <a:rPr dirty="0"/>
              <a:t> multitasking.</a:t>
            </a:r>
          </a:p>
          <a:p>
            <a:r>
              <a:rPr dirty="0" err="1"/>
              <a:t>Skalabilitas</a:t>
            </a:r>
            <a:r>
              <a:rPr dirty="0"/>
              <a:t>: </a:t>
            </a:r>
            <a:r>
              <a:rPr dirty="0" err="1"/>
              <a:t>Cocok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berat</a:t>
            </a:r>
            <a:r>
              <a:rPr dirty="0"/>
              <a:t> </a:t>
            </a:r>
            <a:r>
              <a:rPr dirty="0" err="1"/>
              <a:t>seperti</a:t>
            </a:r>
            <a:r>
              <a:rPr dirty="0"/>
              <a:t> AI, game, dan rendering.</a:t>
            </a:r>
          </a:p>
          <a:p>
            <a:endParaRPr dirty="0"/>
          </a:p>
          <a:p>
            <a:r>
              <a:rPr dirty="0"/>
              <a:t>Kesimpulan:</a:t>
            </a:r>
          </a:p>
          <a:p>
            <a:r>
              <a:rPr dirty="0"/>
              <a:t>Desain multi-core </a:t>
            </a:r>
            <a:r>
              <a:rPr dirty="0" err="1"/>
              <a:t>meningkatkan</a:t>
            </a:r>
            <a:r>
              <a:rPr dirty="0"/>
              <a:t> </a:t>
            </a:r>
            <a:r>
              <a:rPr dirty="0" err="1"/>
              <a:t>performa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meningkatkan</a:t>
            </a:r>
            <a:r>
              <a:rPr dirty="0"/>
              <a:t> </a:t>
            </a:r>
            <a:r>
              <a:rPr dirty="0" err="1"/>
              <a:t>frekuensi</a:t>
            </a:r>
            <a:r>
              <a:rPr dirty="0"/>
              <a:t> clock </a:t>
            </a:r>
            <a:r>
              <a:rPr dirty="0" err="1"/>
              <a:t>ekstrem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Kinerja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Faktor </a:t>
            </a:r>
            <a:r>
              <a:rPr dirty="0" err="1"/>
              <a:t>utama</a:t>
            </a:r>
            <a:r>
              <a:rPr dirty="0"/>
              <a:t>:</a:t>
            </a:r>
          </a:p>
          <a:p>
            <a:pPr marL="342900" lvl="1" indent="0">
              <a:buNone/>
            </a:pPr>
            <a:r>
              <a:rPr dirty="0"/>
              <a:t>- Clock Speed (GHz): </a:t>
            </a:r>
            <a:r>
              <a:rPr dirty="0" err="1"/>
              <a:t>Kecepatan</a:t>
            </a:r>
            <a:r>
              <a:rPr dirty="0"/>
              <a:t> </a:t>
            </a:r>
            <a:r>
              <a:rPr dirty="0" err="1"/>
              <a:t>eksekusi</a:t>
            </a:r>
            <a:r>
              <a:rPr dirty="0"/>
              <a:t>.</a:t>
            </a:r>
          </a:p>
          <a:p>
            <a:pPr marL="342900" lvl="1" indent="0">
              <a:buNone/>
            </a:pPr>
            <a:r>
              <a:rPr dirty="0"/>
              <a:t>- </a:t>
            </a:r>
            <a:r>
              <a:rPr dirty="0" err="1"/>
              <a:t>Jumlah</a:t>
            </a:r>
            <a:r>
              <a:rPr dirty="0"/>
              <a:t> Core: Proses </a:t>
            </a:r>
            <a:r>
              <a:rPr dirty="0" err="1"/>
              <a:t>paralel</a:t>
            </a:r>
            <a:r>
              <a:rPr dirty="0"/>
              <a:t>.</a:t>
            </a:r>
          </a:p>
          <a:p>
            <a:pPr marL="342900" lvl="1" indent="0">
              <a:buNone/>
            </a:pPr>
            <a:r>
              <a:rPr dirty="0"/>
              <a:t>- Cache Size: Akses data </a:t>
            </a:r>
            <a:r>
              <a:rPr dirty="0" err="1"/>
              <a:t>cepat</a:t>
            </a:r>
            <a:r>
              <a:rPr dirty="0"/>
              <a:t>.</a:t>
            </a:r>
          </a:p>
          <a:p>
            <a:pPr marL="342900" lvl="1" indent="0">
              <a:buNone/>
            </a:pPr>
            <a:r>
              <a:rPr dirty="0"/>
              <a:t>- </a:t>
            </a:r>
            <a:r>
              <a:rPr dirty="0" err="1"/>
              <a:t>Arsitektur</a:t>
            </a:r>
            <a:r>
              <a:rPr dirty="0"/>
              <a:t>: RISC vs CISC.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 CPU Modern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Multi-core &amp; Hyper-threading.</a:t>
            </a:r>
          </a:p>
          <a:p>
            <a:pPr marL="0" indent="0">
              <a:buNone/>
            </a:pPr>
            <a:r>
              <a:rPr dirty="0"/>
              <a:t>- Integrasi GPU (APU).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Efisiensi</a:t>
            </a:r>
            <a:r>
              <a:rPr dirty="0"/>
              <a:t> </a:t>
            </a:r>
            <a:r>
              <a:rPr dirty="0" err="1"/>
              <a:t>energi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- AI Acceleration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komputasi</a:t>
            </a:r>
            <a:r>
              <a:rPr dirty="0"/>
              <a:t> </a:t>
            </a:r>
            <a:r>
              <a:rPr dirty="0" err="1"/>
              <a:t>cerdas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CPU </a:t>
            </a:r>
            <a:r>
              <a:rPr dirty="0" err="1"/>
              <a:t>adalah</a:t>
            </a:r>
            <a:r>
              <a:rPr dirty="0"/>
              <a:t> inti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komputer</a:t>
            </a:r>
            <a:r>
              <a:rPr dirty="0"/>
              <a:t>.</a:t>
            </a:r>
            <a:endParaRPr lang="id-ID" dirty="0"/>
          </a:p>
          <a:p>
            <a:r>
              <a:rPr lang="id-ID" dirty="0"/>
              <a:t>Mengontrol, menghitung, dan mengeksekusi semua instruksi.</a:t>
            </a:r>
          </a:p>
          <a:p>
            <a:r>
              <a:rPr dirty="0" err="1"/>
              <a:t>Pemahaman</a:t>
            </a:r>
            <a:r>
              <a:rPr dirty="0"/>
              <a:t> </a:t>
            </a:r>
            <a:r>
              <a:rPr dirty="0" err="1"/>
              <a:t>arsitektur</a:t>
            </a:r>
            <a:r>
              <a:rPr dirty="0"/>
              <a:t> CPU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efisiensi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modern.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Arsitektur</a:t>
            </a:r>
            <a:r>
              <a:rPr dirty="0"/>
              <a:t> Von Neumann </a:t>
            </a:r>
            <a:r>
              <a:rPr dirty="0" err="1"/>
              <a:t>menekankan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program dan data </a:t>
            </a:r>
            <a:r>
              <a:rPr dirty="0" err="1"/>
              <a:t>disimpan</a:t>
            </a:r>
            <a:r>
              <a:rPr dirty="0"/>
              <a:t> di </a:t>
            </a:r>
            <a:r>
              <a:rPr dirty="0" err="1"/>
              <a:t>memori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.</a:t>
            </a:r>
          </a:p>
          <a:p>
            <a:r>
              <a:rPr dirty="0"/>
              <a:t>CPU </a:t>
            </a:r>
            <a:r>
              <a:rPr dirty="0" err="1"/>
              <a:t>berperan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pengendali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yang </a:t>
            </a:r>
            <a:r>
              <a:rPr dirty="0" err="1"/>
              <a:t>menghubungkan</a:t>
            </a:r>
            <a:r>
              <a:rPr dirty="0"/>
              <a:t> input, </a:t>
            </a:r>
            <a:r>
              <a:rPr dirty="0" err="1"/>
              <a:t>memori</a:t>
            </a:r>
            <a:r>
              <a:rPr dirty="0"/>
              <a:t>, dan output.</a:t>
            </a:r>
          </a:p>
          <a:p>
            <a:r>
              <a:rPr dirty="0" err="1"/>
              <a:t>Sistem</a:t>
            </a:r>
            <a:r>
              <a:rPr dirty="0"/>
              <a:t> bus (control, data, address) </a:t>
            </a:r>
            <a:r>
              <a:rPr dirty="0" err="1"/>
              <a:t>memastikan</a:t>
            </a:r>
            <a:r>
              <a:rPr dirty="0"/>
              <a:t> </a:t>
            </a:r>
            <a:r>
              <a:rPr dirty="0" err="1"/>
              <a:t>komunikasi</a:t>
            </a:r>
            <a:r>
              <a:rPr dirty="0"/>
              <a:t> </a:t>
            </a:r>
            <a:r>
              <a:rPr dirty="0" err="1"/>
              <a:t>efisien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mplat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rkuliahan 1 Pengantar Orkom" id="{1571AE0C-B690-48A4-A2B6-94DED31A5356}" vid="{0A0D46BC-C6F6-4839-AFA3-21B7E8629F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 2 EVOLUSI DAN KINERJA KOMPUTER</Template>
  <TotalTime>35</TotalTime>
  <Words>906</Words>
  <Application>Microsoft Office PowerPoint</Application>
  <PresentationFormat>On-screen Show (4:3)</PresentationFormat>
  <Paragraphs>107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Anastasia</vt:lpstr>
      <vt:lpstr>Arial</vt:lpstr>
      <vt:lpstr>Calibri</vt:lpstr>
      <vt:lpstr>Calibri Light</vt:lpstr>
      <vt:lpstr>Trebuchet MS</vt:lpstr>
      <vt:lpstr>Tamplate 1</vt:lpstr>
      <vt:lpstr>Alur Kerja CPU Berdasarkan Arsitektur Von Neumann</vt:lpstr>
      <vt:lpstr>Pengertian CPU</vt:lpstr>
      <vt:lpstr>Fungsi Utama CPU</vt:lpstr>
      <vt:lpstr>Struktur CPU (Central Processing Unit)</vt:lpstr>
      <vt:lpstr>CPU Bus dan Jenis Bus</vt:lpstr>
      <vt:lpstr>Peran RAM dan Perangkat I/O</vt:lpstr>
      <vt:lpstr>PowerPoint Presentation</vt:lpstr>
      <vt:lpstr>PowerPoint Presentation</vt:lpstr>
      <vt:lpstr>PowerPoint Presentation</vt:lpstr>
      <vt:lpstr>Cara Kerja CPU (Instruction Cycle)</vt:lpstr>
      <vt:lpstr>Arsitektur Von Neumann</vt:lpstr>
      <vt:lpstr>PowerPoint Presentation</vt:lpstr>
      <vt:lpstr>Komponen Pendukung CPU</vt:lpstr>
      <vt:lpstr>Konsep Prosesor Multi-core</vt:lpstr>
      <vt:lpstr>Cache dalam Prosesor Multi-core</vt:lpstr>
      <vt:lpstr>Cache dalam Prosesor Multi-core</vt:lpstr>
      <vt:lpstr>Penjelasan Cache Multi-core</vt:lpstr>
      <vt:lpstr>Struktur Prosesor Dual-core</vt:lpstr>
      <vt:lpstr>Keunggulan Arsitektur Multi-core</vt:lpstr>
      <vt:lpstr>Kinerja CPU</vt:lpstr>
      <vt:lpstr>Tren CPU Modern</vt:lpstr>
      <vt:lpstr>Penutup</vt:lpstr>
      <vt:lpstr>Kesimpulan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Ragel Trisudarmo</cp:lastModifiedBy>
  <cp:revision>2</cp:revision>
  <dcterms:created xsi:type="dcterms:W3CDTF">2013-01-27T09:14:16Z</dcterms:created>
  <dcterms:modified xsi:type="dcterms:W3CDTF">2025-10-21T02:03:11Z</dcterms:modified>
  <cp:category/>
</cp:coreProperties>
</file>